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680000">
            <a:off x="8503920" y="777240"/>
            <a:ext cx="3291840" cy="146304"/>
          </a:xfrm>
          <a:prstGeom prst="roundRect">
            <a:avLst>
              <a:gd name="adj" fmla="val 50000"/>
            </a:avLst>
          </a:prstGeom>
          <a:solidFill>
            <a:srgbClr val="D9542F"/>
          </a:solidFill>
          <a:ln/>
        </p:spPr>
      </p:sp>
      <p:sp>
        <p:nvSpPr>
          <p:cNvPr id="3" name="Shape 1"/>
          <p:cNvSpPr/>
          <p:nvPr/>
        </p:nvSpPr>
        <p:spPr>
          <a:xfrm rot="-1680000">
            <a:off x="8732520" y="1417320"/>
            <a:ext cx="2468880" cy="91440"/>
          </a:xfrm>
          <a:prstGeom prst="roundRect">
            <a:avLst>
              <a:gd name="adj" fmla="val 50000"/>
            </a:avLst>
          </a:prstGeom>
          <a:solidFill>
            <a:srgbClr val="D9542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D0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BATON PASS   ×   KOKU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管理CRM </a:t>
            </a:r>
            <a:pPr indent="0" marL="0">
              <a:buNone/>
            </a:pPr>
            <a:r>
              <a:rPr lang="en-US" sz="5200" b="1" dirty="0">
                <a:solidFill>
                  <a:srgbClr val="F0A5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「TAKT」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E1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選手とスポンサーをつなぐ、管理の土台を。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LINEとスプレッドシートに散らばった情報を、ひとつのCRMへ。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提案・実績・タスクまで、段階的に。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34840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B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🗂 情報の一元化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67712" y="4434840"/>
            <a:ext cx="2066544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4434840"/>
            <a:ext cx="20665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B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 スマホ・音声タスク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17136" y="4434840"/>
            <a:ext cx="177393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443484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B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🤝 継続する座組み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ご提案資料（企画・機能ガイド・おすすめ度・概算見積もり）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作成：株式会社KOKU　／　ヒアリング：2026年7月3日　／　※金額は概算のたたき台です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本日ご提案する内容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「なぜ作るか」から始め、機能はおすすめ度で、費用は概算レンジでお伝えします。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54396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221992"/>
            <a:ext cx="4082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 ─ 何を、なぜ作るか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散在する情報を一元化する管理CRM「TAKT」の狙いと、課題→解決の対応。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1965960"/>
            <a:ext cx="5454396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1676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20356" y="2221992"/>
            <a:ext cx="4082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 ─ おすすめ度で見る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97396" y="283464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前回の「欲しい機能」＋追加機能を、★のおすすめ度で整理。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5454396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4082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 ─ 作る順番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土台から段階的に。効果の大きいものから載せていくロードマップ。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7356" y="4069080"/>
            <a:ext cx="5454396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1676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20356" y="4325112"/>
            <a:ext cx="4082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 ─ 概算見積もり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97396" y="493776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A/B/Cの3プランと1年目総額の目安（正式額はKOKUより別途）。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· 企画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土台となるCRMを起点に、段階的に載せる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最優先の土台＝管理CRM。ここに提案書の自動化・実績共有・LINE連携・タスク管理を順に積み上げます。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640080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ねらい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選手・スポンサー・案件を1つのDBに統合。「誰が・いつ・何をしたか」の履歴が自動で残り、属人化を解消して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引き継ぎ可能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な状態に。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6400800" cy="1463040"/>
          </a:xfrm>
          <a:prstGeom prst="roundRect">
            <a:avLst>
              <a:gd name="adj" fmla="val 5625"/>
            </a:avLst>
          </a:prstGeom>
          <a:solidFill>
            <a:srgbClr val="FBEEE9"/>
          </a:solidFill>
          <a:ln w="12700">
            <a:solidFill>
              <a:srgbClr val="EBC7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114800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D9542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897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「移動が多くPCを開けない」代表の最重要課題に対し、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スマホ・音声でタスクを完結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できる形を土台に組み込みます。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4416552" cy="1115568"/>
          </a:xfrm>
          <a:prstGeom prst="roundRect">
            <a:avLst>
              <a:gd name="adj" fmla="val 7377"/>
            </a:avLst>
          </a:prstGeom>
          <a:solidFill>
            <a:srgbClr val="FBFAF6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2112264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1つのDB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589520" y="2587752"/>
            <a:ext cx="3867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選手・スポンサー・案件を統合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3236976"/>
            <a:ext cx="4416552" cy="1115568"/>
          </a:xfrm>
          <a:prstGeom prst="roundRect">
            <a:avLst>
              <a:gd name="adj" fmla="val 7377"/>
            </a:avLst>
          </a:prstGeom>
          <a:solidFill>
            <a:srgbClr val="FBFAF6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3383280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スマホ完結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589520" y="3858768"/>
            <a:ext cx="3867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移動中に音声でタスク完了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4507992"/>
            <a:ext cx="4416552" cy="1115568"/>
          </a:xfrm>
          <a:prstGeom prst="roundRect">
            <a:avLst>
              <a:gd name="adj" fmla="val 7377"/>
            </a:avLst>
          </a:prstGeom>
          <a:solidFill>
            <a:srgbClr val="FBFAF6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4654296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段階導入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0" y="5129784"/>
            <a:ext cx="3867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効果を見ながら次を判断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· 企画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現状の痛み → CRMでの解決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ヒアリング議事録（2026/07/03）で挙がった課題を、機能に翻訳します。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4825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現状の痛み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2304288"/>
            <a:ext cx="43799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選手＝LINE、スポンサー＝LINE＋スプレッドシートに情報が散在。履歴が残らず属人化。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49240" y="192024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BEEE9"/>
          </a:solidFill>
          <a:ln w="12700">
            <a:solidFill>
              <a:srgbClr val="EB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204825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CRMでの解決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28232" y="2304288"/>
            <a:ext cx="43799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選手・スポンサー・案件を1つのDBに統合。履歴が自動で残り、引き継ぎ可能に。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10712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53872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現状の痛み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794760"/>
            <a:ext cx="43799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タスクの漏れが多い。登録しても忘れる。移動が多くPCを開けない（代表の最重要課題）。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49240" y="3410712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172200" y="3410712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BEEE9"/>
          </a:solidFill>
          <a:ln w="12700">
            <a:solidFill>
              <a:srgbClr val="EBC7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53872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CRMでの解決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28232" y="3794760"/>
            <a:ext cx="43799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案件に紐づくタスクをスマホで完結。移動中に音声で完了、期限が近いものを自動で上位表示。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901184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02920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現状の痛み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5285232"/>
            <a:ext cx="43799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営業商材・案件マッチング・福利厚生案内がバラバラの導線。提案作成にも時間がかかる。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49240" y="4901184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172200" y="4901184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BEEE9"/>
          </a:solidFill>
          <a:ln w="12700">
            <a:solidFill>
              <a:srgbClr val="EBC7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502920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CRMでの解決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28232" y="5285232"/>
            <a:ext cx="43799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LINEを窓口にCRMと連携し導線を1本化。企業HPのURLから提案書を自動生成。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· 機能（前回ご提案の「欲しい機能」）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基本機能 ─ おすすめ度と料金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3502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9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★★★★★ </a:t>
            </a:r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必須（土台）　　</a:t>
            </a:r>
            <a:pPr indent="0" marL="0">
              <a:buNone/>
            </a:pPr>
            <a:r>
              <a:rPr lang="en-US" sz="1200" b="1" dirty="0">
                <a:solidFill>
                  <a:srgbClr val="CF9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★★★★ </a:t>
            </a:r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強く推奨　　</a:t>
            </a:r>
            <a:pPr indent="0" marL="0">
              <a:buNone/>
            </a:pPr>
            <a:r>
              <a:rPr lang="en-US" sz="1200" b="1" dirty="0">
                <a:solidFill>
                  <a:srgbClr val="CF9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 </a:t>
            </a:r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2377440"/>
                <a:gridCol w="1874520"/>
                <a:gridCol w="16276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381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おすすめ度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初期費用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月額（目安）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1　統合データベース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全機能の土台。二重入力と属人化を解消。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7431F"/>
                          </a:solidFill>
                        </a:rPr>
                        <a:t>必須・土台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20〜35万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2　営業パイプライン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発掘→受注をカンバンで可視化。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7431F"/>
                          </a:solidFill>
                        </a:rPr>
                        <a:t>必須・土台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15〜25万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3　スマホ・音声タスク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移動中に音声で完了。代表の最重要課題。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7431F"/>
                          </a:solidFill>
                        </a:rPr>
                        <a:t>必須・土台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20〜30万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4　ダッシュボード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売上・案件・タスクを一目に。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E12"/>
                          </a:solidFill>
                        </a:rPr>
                        <a:t>土台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10〜20万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5　LINE連携＋自動応答bot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24時間AI応答。会話を自動記録。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E12"/>
                          </a:solidFill>
                        </a:rPr>
                        <a:t>連携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20〜40万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6　AI提案書ジェネレーター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URL入力で提案書を自動生成。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E12"/>
                          </a:solidFill>
                        </a:rPr>
                        <a:t>連携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15〜30万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7　実績ボード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戦績を常時共有しLTV向上。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E12"/>
                          </a:solidFill>
                        </a:rPr>
                        <a:t>連携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10〜20万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8　営業メール支援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企業別メールを自動下書き。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D667C"/>
                          </a:solidFill>
                        </a:rPr>
                        <a:t>連携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10〜20万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59612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おすすめ度＝導入の優先度目安。月額は運用・API利用の目安で、プラン月額（3プラン参照）に含みます。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· 機能（追加機能）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追加機能 ─ おすすめ度と料金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3502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9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★★★★★ </a:t>
            </a:r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最優先（収益直結）　　</a:t>
            </a:r>
            <a:pPr indent="0" marL="0">
              <a:buNone/>
            </a:pPr>
            <a:r>
              <a:rPr lang="en-US" sz="1200" b="1" dirty="0">
                <a:solidFill>
                  <a:srgbClr val="CF9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★★★★ </a:t>
            </a:r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強く推奨　　</a:t>
            </a:r>
            <a:pPr indent="0" marL="0">
              <a:buNone/>
            </a:pPr>
            <a:r>
              <a:rPr lang="en-US" sz="1200" b="1" dirty="0">
                <a:solidFill>
                  <a:srgbClr val="CF9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 </a:t>
            </a:r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　　</a:t>
            </a:r>
            <a:pPr indent="0" marL="0">
              <a:buNone/>
            </a:pPr>
            <a:r>
              <a:rPr lang="en-US" sz="1200" b="1" dirty="0">
                <a:solidFill>
                  <a:srgbClr val="CF9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 </a:t>
            </a:r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2377440"/>
                <a:gridCol w="1874520"/>
                <a:gridCol w="16276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381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おすすめ度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初期費用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月額（目安）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9　契約・請求＋更新アラート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更新前に自動通知。失注を防止。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7431F"/>
                          </a:solidFill>
                        </a:rPr>
                        <a:t>最優先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15〜25万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10　SNS影響力の自動集計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宣伝価値を数値化。営業の武器に。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E12"/>
                          </a:solidFill>
                        </a:rPr>
                        <a:t>最優先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20〜35万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11　ROI・露出レポート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費用対効果で更新の決め手。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E12"/>
                          </a:solidFill>
                        </a:rPr>
                        <a:t>最優先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10〜20万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12　紹介・アライアンス管理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紹介料を自動集計。連鎖を資産化。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D667C"/>
                          </a:solidFill>
                        </a:rPr>
                        <a:t>追加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10〜20万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13　少額スポンサー集金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1口1,000円をネット集金。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D667C"/>
                          </a:solidFill>
                        </a:rPr>
                        <a:t>追加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20〜35万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3,000円※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14　福利厚生・特典カタログ配信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特典をLINEで配信。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D667C"/>
                          </a:solidFill>
                        </a:rPr>
                        <a:t>任意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10〜15万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15　選手セルフ入力ポータル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選手が自分で入力。運営負担減。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D667C"/>
                          </a:solidFill>
                        </a:rPr>
                        <a:t>追加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15〜25万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16　カレンダー連携＋通知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予定を一元化し通知。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D667C"/>
                          </a:solidFill>
                        </a:rPr>
                        <a:t>任意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10〜15万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</a:rPr>
                        <a:t>17　メディア事業との連動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D667C"/>
                          </a:solidFill>
                        </a:rPr>
                        <a:t>掲載を継続の成果へ。</a:t>
                      </a:r>
                      <a:endParaRPr lang="en-US" sz="1200" dirty="0"/>
                    </a:p>
                  </a:txBody>
                  <a:tcPr marL="88900" marR="50800" marT="38100" marB="381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F9526"/>
                          </a:solidFill>
                        </a:rPr>
                        <a:t>★★★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8D2C4"/>
                          </a:solidFill>
                        </a:rPr>
                        <a:t>★★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D667C"/>
                          </a:solidFill>
                        </a:rPr>
                        <a:t>追加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10〜15万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2,000円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02589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月額は運用・API利用の目安。⑬は別途、決済手数料（取引額×約3.6%）がかかります。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· 進め方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 ─ 作る順番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工数の大きい認証まわりを含む土台を最初に固め、効果の大きいものから順に載せます。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544824" cy="27432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21992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2996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受託・約1〜1.5ヶ月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土台をつくる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996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統合DB＋パイプライン＋音声タスク＋ダッシュボード。工数の大きい認証まわりを最初に固める。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42232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約100万
</a:t>
            </a:r>
            <a:pPr indent="0" marL="0">
              <a:buNone/>
            </a:pPr>
            <a:r>
              <a:rPr lang="en-US" sz="10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初期・概算（Plan A）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2064" y="1965960"/>
            <a:ext cx="3544824" cy="27432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6384" y="2221992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96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受託＋伴走・随時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96384" y="288036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連携＋最優先の追加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6384" y="3291840"/>
            <a:ext cx="2996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LINE＋AI提案書＋実績ボードに、最優先の追加3機能（契約更新・ROI・SNS集計）を。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6384" y="4142232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1機能 10万〜
</a:t>
            </a:r>
            <a:pPr indent="0" marL="0">
              <a:buNone/>
            </a:pPr>
            <a:r>
              <a:rPr lang="en-US" sz="10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随時追加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6928" y="1965960"/>
            <a:ext cx="3544824" cy="27432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1248" y="2221992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61248" y="2532888"/>
            <a:ext cx="2996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随時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61248" y="288036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拡張する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61248" y="3291840"/>
            <a:ext cx="2996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集金・紹介・選手ポータル・カレンダー・メディア連動。効果の大きいものから順に。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61248" y="4142232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1機能 10万〜
</a:t>
            </a:r>
            <a:pPr indent="0" marL="0">
              <a:buNone/>
            </a:pPr>
            <a:r>
              <a:rPr lang="en-US" sz="10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随時追加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11274552" cy="1325880"/>
          </a:xfrm>
          <a:prstGeom prst="roundRect">
            <a:avLst>
              <a:gd name="adj" fmla="val 6207"/>
            </a:avLst>
          </a:prstGeom>
          <a:solidFill>
            <a:srgbClr val="FBEEE9"/>
          </a:solidFill>
          <a:ln w="12700">
            <a:solidFill>
              <a:srgbClr val="EBC7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029200"/>
            <a:ext cx="82296" cy="1325880"/>
          </a:xfrm>
          <a:prstGeom prst="roundRect">
            <a:avLst>
              <a:gd name="adj" fmla="val 44444"/>
            </a:avLst>
          </a:prstGeom>
          <a:solidFill>
            <a:srgbClr val="D9542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029200"/>
            <a:ext cx="1077163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アライアンス構想：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BATON PASS（企業アポの角度が高い）× KOKU（オリジナルシステム）は相互補完。中小スポンサーへの送客と紹介料の分配、「スポンサー限定サイト（企業マッチング）」へ。単なる受発注で終わらせず、継続的な座組みを目指します。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· 費用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3つのプラン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まず土台だけで始める → 収益に効く所までそろえる → まるごと仕組み化。金額は概算です。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514344" cy="4297680"/>
          </a:xfrm>
          <a:prstGeom prst="roundRect">
            <a:avLst>
              <a:gd name="adj" fmla="val 2602"/>
            </a:avLst>
          </a:prstGeom>
          <a:solidFill>
            <a:srgbClr val="FBFAF6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21992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478024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スモールスタート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2898648"/>
            <a:ext cx="2965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まず土台だけを最小限で作って始める。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3520440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pPr indent="0" marL="0">
              <a:buNone/>
            </a:pPr>
            <a:r>
              <a:rPr lang="en-US" sz="1300" b="1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49808" y="4023360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　</a:t>
            </a:r>
            <a:pPr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10万 / 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4297680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1年目合計　</a:t>
            </a:r>
            <a:pPr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220万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4754880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土台の4機能（①〜④）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5212080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統合DB・パイプライン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" y="5669280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音声タスク・ダッシュボード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7304" y="1965960"/>
            <a:ext cx="3514344" cy="429768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25400">
            <a:solidFill>
              <a:srgbClr val="D954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4328" y="181965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D9542F"/>
          </a:solidFill>
          <a:ln/>
        </p:spPr>
      </p:sp>
      <p:sp>
        <p:nvSpPr>
          <p:cNvPr id="17" name="Text 15"/>
          <p:cNvSpPr/>
          <p:nvPr/>
        </p:nvSpPr>
        <p:spPr>
          <a:xfrm>
            <a:off x="6434328" y="18196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おすすめ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9912" y="2221992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29912" y="2478024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29912" y="2898648"/>
            <a:ext cx="2965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収益に効く所までひと通り。バランス最良。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29912" y="3520440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150</a:t>
            </a:r>
            <a:pPr indent="0" marL="0">
              <a:buNone/>
            </a:pPr>
            <a:r>
              <a:rPr lang="en-US" sz="1300" b="1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4629912" y="4023360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　</a:t>
            </a:r>
            <a:pPr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15万 / 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29912" y="4297680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1年目合計　</a:t>
            </a:r>
            <a:pPr indent="0" marL="0">
              <a:buNone/>
            </a:pPr>
            <a:r>
              <a:rPr lang="en-US" sz="1200" b="1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330万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29912" y="4754880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Aの4機能をすべて含む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29912" y="5212080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LINE・AI提案書・実績ボード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29912" y="5669280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最優先の追加3（契約更新・ROI・SNS）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17408" y="1965960"/>
            <a:ext cx="3514344" cy="4297680"/>
          </a:xfrm>
          <a:prstGeom prst="roundRect">
            <a:avLst>
              <a:gd name="adj" fmla="val 2602"/>
            </a:avLst>
          </a:prstGeom>
          <a:solidFill>
            <a:srgbClr val="FBFAF6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0016" y="2221992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10016" y="2478024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フル装備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10016" y="2898648"/>
            <a:ext cx="2965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17機能すべて。集金・紹介・選手参加まで。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10016" y="3520440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pPr indent="0" marL="0">
              <a:buNone/>
            </a:pPr>
            <a:r>
              <a:rPr lang="en-US" sz="1300" b="1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8510016" y="4023360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　</a:t>
            </a:r>
            <a:pPr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20万 / 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10016" y="4297680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1年目合計　</a:t>
            </a:r>
            <a:pPr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440万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10016" y="4754880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A・Bの11機能をすべて含む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10016" y="5212080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集金・紹介・特典配信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510016" y="5669280"/>
            <a:ext cx="2965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選手ポータル・カレンダー・メディア連動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· 費用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1年目の総額（概算）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初期費用＋月額×12の目安。月額はAI利用量・LINE連携の深さ・利用者数で変動します。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914400"/>
        </p:xfrm>
        <a:graphic>
          <a:graphicData uri="http://schemas.openxmlformats.org/drawingml/2006/table">
            <a:tbl>
              <a:tblPr/>
              <a:tblGrid>
                <a:gridCol w="4416552"/>
                <a:gridCol w="2587752"/>
                <a:gridCol w="2587752"/>
                <a:gridCol w="16824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シナリオ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初期費用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月額×12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1年目合計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スモール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120万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220万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 スタンダード ★推奨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150万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180万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743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330万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 フル装備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240万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440万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5454396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343400"/>
            <a:ext cx="49057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月額について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709160"/>
            <a:ext cx="49057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プランに応じて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10〜20万円 / 月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。LINE公式・AI従量・音声入力・SNS取得・ホスティング/DB/認証・KOKU運用保守を含みます。各機能の月額目安は機能一覧に記載。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決済手数料は別途 取引額×約3.6%。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4160520"/>
            <a:ext cx="5454396" cy="1920240"/>
          </a:xfrm>
          <a:prstGeom prst="roundRect">
            <a:avLst>
              <a:gd name="adj" fmla="val 4286"/>
            </a:avLst>
          </a:prstGeom>
          <a:solidFill>
            <a:srgbClr val="FBFAF6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51676" y="4343400"/>
            <a:ext cx="49057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金額を左右する3点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51676" y="4709160"/>
            <a:ext cx="49057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LINE⇔CRM連携の範囲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想定利用者数・同時利用数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AI利用の想定ボリューム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正式なお見積もりはKOKUより別途提示いたします。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· 費用（月額の可視化）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月額はどれくらい？ ─ 機能ごとの毎月の料金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BEEE9"/>
          </a:solidFill>
          <a:ln w="12700">
            <a:solidFill>
              <a:srgbClr val="EBC7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566928"/>
          </a:xfrm>
          <a:prstGeom prst="roundRect">
            <a:avLst>
              <a:gd name="adj" fmla="val 50000"/>
            </a:avLst>
          </a:prstGeom>
          <a:solidFill>
            <a:srgbClr val="D9542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71600"/>
            <a:ext cx="10817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「月額」＝ 毎月動かし続けるための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“使い続け料”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。スマホ代や電気代と同じで、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たくさん使う機能ほど高く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なります（棒が長いほど高い）。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1226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D9542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057400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高い：AIや外部サービス（LINE・SNS）を「たくさん使う」機能</a:t>
            </a:r>
            <a:pPr indent="0" marL="0">
              <a:buNone/>
            </a:pPr>
            <a:r>
              <a:rPr lang="en-US" sz="10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— AIは文章を作るたびにお金がかかる＝使うほど高い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9994392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LINE連携＋自動応答bot（LINE配信＋AI応答）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15,000円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11274552" cy="118872"/>
          </a:xfrm>
          <a:prstGeom prst="roundRect">
            <a:avLst>
              <a:gd name="adj" fmla="val 38462"/>
            </a:avLst>
          </a:prstGeom>
          <a:solidFill>
            <a:srgbClr val="EEEBE3"/>
          </a:solidFill>
          <a:ln w="9525">
            <a:solidFill>
              <a:srgbClr val="E4DF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15184"/>
            <a:ext cx="11274552" cy="118872"/>
          </a:xfrm>
          <a:prstGeom prst="roundRect">
            <a:avLst>
              <a:gd name="adj" fmla="val 38462"/>
            </a:avLst>
          </a:prstGeom>
          <a:solidFill>
            <a:srgbClr val="D9542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98064"/>
            <a:ext cx="9994392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AI提案書ジェネレーター（AIで文章作成）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8,000円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11274552" cy="118872"/>
          </a:xfrm>
          <a:prstGeom prst="roundRect">
            <a:avLst>
              <a:gd name="adj" fmla="val 38462"/>
            </a:avLst>
          </a:prstGeom>
          <a:solidFill>
            <a:srgbClr val="EEEBE3"/>
          </a:solidFill>
          <a:ln w="9525">
            <a:solidFill>
              <a:srgbClr val="E4DF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5975513" cy="118872"/>
          </a:xfrm>
          <a:prstGeom prst="roundRect">
            <a:avLst>
              <a:gd name="adj" fmla="val 38462"/>
            </a:avLst>
          </a:prstGeom>
          <a:solidFill>
            <a:srgbClr val="D9542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9994392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SNS影響力の自動集計（SNSのデータ取得）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8,000円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11274552" cy="118872"/>
          </a:xfrm>
          <a:prstGeom prst="roundRect">
            <a:avLst>
              <a:gd name="adj" fmla="val 38462"/>
            </a:avLst>
          </a:prstGeom>
          <a:solidFill>
            <a:srgbClr val="EEEBE3"/>
          </a:solidFill>
          <a:ln w="9525">
            <a:solidFill>
              <a:srgbClr val="E4DF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19856"/>
            <a:ext cx="5975513" cy="118872"/>
          </a:xfrm>
          <a:prstGeom prst="roundRect">
            <a:avLst>
              <a:gd name="adj" fmla="val 38462"/>
            </a:avLst>
          </a:prstGeom>
          <a:solidFill>
            <a:srgbClr val="D9542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675888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1667B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621024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ふつう：データをたくさん「保管」したり、AIを「少し」使う機能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959352"/>
            <a:ext cx="9994392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統合データベース（全データの置き場）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959352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5,000円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78808"/>
            <a:ext cx="11274552" cy="118872"/>
          </a:xfrm>
          <a:prstGeom prst="roundRect">
            <a:avLst>
              <a:gd name="adj" fmla="val 38462"/>
            </a:avLst>
          </a:prstGeom>
          <a:solidFill>
            <a:srgbClr val="EEEBE3"/>
          </a:solidFill>
          <a:ln w="9525">
            <a:solidFill>
              <a:srgbClr val="E4DF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78808"/>
            <a:ext cx="3720602" cy="118872"/>
          </a:xfrm>
          <a:prstGeom prst="roundRect">
            <a:avLst>
              <a:gd name="adj" fmla="val 38462"/>
            </a:avLst>
          </a:prstGeom>
          <a:solidFill>
            <a:srgbClr val="1667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361688"/>
            <a:ext cx="9994392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実績ボード（AI報告文＋常時表示）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361688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5,000円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81144"/>
            <a:ext cx="11274552" cy="118872"/>
          </a:xfrm>
          <a:prstGeom prst="roundRect">
            <a:avLst>
              <a:gd name="adj" fmla="val 38462"/>
            </a:avLst>
          </a:prstGeom>
          <a:solidFill>
            <a:srgbClr val="EEEBE3"/>
          </a:solidFill>
          <a:ln w="9525">
            <a:solidFill>
              <a:srgbClr val="E4DF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581144"/>
            <a:ext cx="3720602" cy="118872"/>
          </a:xfrm>
          <a:prstGeom prst="roundRect">
            <a:avLst>
              <a:gd name="adj" fmla="val 38462"/>
            </a:avLst>
          </a:prstGeom>
          <a:solidFill>
            <a:srgbClr val="1667B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64024"/>
            <a:ext cx="9994392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営業メール支援（AIで下書き）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76402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5,000円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983480"/>
            <a:ext cx="11274552" cy="118872"/>
          </a:xfrm>
          <a:prstGeom prst="roundRect">
            <a:avLst>
              <a:gd name="adj" fmla="val 38462"/>
            </a:avLst>
          </a:prstGeom>
          <a:solidFill>
            <a:srgbClr val="EEEBE3"/>
          </a:solidFill>
          <a:ln w="9525">
            <a:solidFill>
              <a:srgbClr val="E4DF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983480"/>
            <a:ext cx="3720602" cy="118872"/>
          </a:xfrm>
          <a:prstGeom prst="roundRect">
            <a:avLst>
              <a:gd name="adj" fmla="val 38462"/>
            </a:avLst>
          </a:prstGeom>
          <a:solidFill>
            <a:srgbClr val="1667B5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523951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184648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安い：おもに「保存・表示・通知」するだけの機能</a:t>
            </a:r>
            <a:pPr indent="0" marL="0">
              <a:buNone/>
            </a:pPr>
            <a:r>
              <a:rPr lang="en-US" sz="10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— 電気代くらい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5522976"/>
            <a:ext cx="9994392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3,000円の7機能：②営業パイプライン・③スマホ音声タスク・④ダッシュボード・⑨契約更新・⑪ROIレポート・⑬少額集金・⑮選手ポータル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5522976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3,000円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5742432"/>
            <a:ext cx="11274552" cy="118872"/>
          </a:xfrm>
          <a:prstGeom prst="roundRect">
            <a:avLst>
              <a:gd name="adj" fmla="val 38462"/>
            </a:avLst>
          </a:prstGeom>
          <a:solidFill>
            <a:srgbClr val="EEEBE3"/>
          </a:solidFill>
          <a:ln w="9525">
            <a:solidFill>
              <a:srgbClr val="E4DF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742432"/>
            <a:ext cx="2254910" cy="118872"/>
          </a:xfrm>
          <a:prstGeom prst="roundRect">
            <a:avLst>
              <a:gd name="adj" fmla="val 38462"/>
            </a:avLst>
          </a:prstGeom>
          <a:solidFill>
            <a:srgbClr val="2E8B57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925312"/>
            <a:ext cx="9994392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2,000円の4機能：⑫紹介管理・⑭特典配信・⑯カレンダー連携・⑰メディア連動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5925312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2,000円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6144768"/>
            <a:ext cx="11274552" cy="118872"/>
          </a:xfrm>
          <a:prstGeom prst="roundRect">
            <a:avLst>
              <a:gd name="adj" fmla="val 38462"/>
            </a:avLst>
          </a:prstGeom>
          <a:solidFill>
            <a:srgbClr val="EEEBE3"/>
          </a:solidFill>
          <a:ln w="9525">
            <a:solidFill>
              <a:srgbClr val="E4DFD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6144768"/>
            <a:ext cx="1465692" cy="118872"/>
          </a:xfrm>
          <a:prstGeom prst="roundRect">
            <a:avLst>
              <a:gd name="adj" fmla="val 38462"/>
            </a:avLst>
          </a:prstGeom>
          <a:solidFill>
            <a:srgbClr val="2E8B57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6053328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6053328"/>
            <a:ext cx="10817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ぜんぶ足すと…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17機能の月額合計 ＝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約7.5万円/月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（サービスの実費）　＋　KOKUの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お守り代（保守）3〜6万円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プラン月額 10〜20万円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※⑬集金は別途 決済手数料（取引額×約3.6%）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· おすすめの進め方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まず土台。効果を確かめて、収益直結の順に足す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初期投資を抑えつつ、効果を確かめながら次を判断できます。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510028" cy="228600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04872"/>
            <a:ext cx="2052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807208"/>
            <a:ext cx="20528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スモールスタート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20528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土台のみ・約100万＋月10万で走り始める。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48940" y="2148840"/>
            <a:ext cx="411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78708" y="2148840"/>
            <a:ext cx="2510028" cy="228600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7308" y="2404872"/>
            <a:ext cx="2052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★★★★★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07308" y="2807208"/>
            <a:ext cx="20528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契約更新アラート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07308" y="3566160"/>
            <a:ext cx="20528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うっかり失注を防ぎ、まず「守り」を固める。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70448" y="2148840"/>
            <a:ext cx="411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00216" y="2148840"/>
            <a:ext cx="2510028" cy="228600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2404872"/>
            <a:ext cx="2052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F9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★★★★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8816" y="2807208"/>
            <a:ext cx="20528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ROI・露出レポート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28816" y="3566160"/>
            <a:ext cx="20528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効果を見せて、継続（更新）の決め手に。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91956" y="2148840"/>
            <a:ext cx="411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4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221724" y="2148840"/>
            <a:ext cx="2510028" cy="228600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50324" y="2404872"/>
            <a:ext cx="2052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F9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★★★★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50324" y="2807208"/>
            <a:ext cx="20528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SNS影響力集計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450324" y="3566160"/>
            <a:ext cx="20528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6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宣伝価値を数値化し、新規営業の武器に。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11274552" cy="1097280"/>
          </a:xfrm>
          <a:prstGeom prst="roundRect">
            <a:avLst>
              <a:gd name="adj" fmla="val 7500"/>
            </a:avLst>
          </a:prstGeom>
          <a:solidFill>
            <a:srgbClr val="FBEEE9"/>
          </a:solidFill>
          <a:ln w="12700">
            <a:solidFill>
              <a:srgbClr val="EBC7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937760"/>
            <a:ext cx="82296" cy="1097280"/>
          </a:xfrm>
          <a:prstGeom prst="roundRect">
            <a:avLst>
              <a:gd name="adj" fmla="val 44444"/>
            </a:avLst>
          </a:prstGeom>
          <a:solidFill>
            <a:srgbClr val="D9542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937760"/>
            <a:ext cx="10771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この3つ（⑨→⑪→⑩）は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743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収益に直結する「最優先」機能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。スモールスタートの上に、この順で載せていくのがおすすめです。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680000">
            <a:off x="8778240" y="822960"/>
            <a:ext cx="3017520" cy="128016"/>
          </a:xfrm>
          <a:prstGeom prst="roundRect">
            <a:avLst>
              <a:gd name="adj" fmla="val 50000"/>
            </a:avLst>
          </a:prstGeom>
          <a:solidFill>
            <a:srgbClr val="D954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A5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土台から、いっしょに。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BE1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最優先で着手する機能をお選びください。正式なお見積もりと実装範囲は、KOKUより別途ご提示します。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373075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23360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B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着手する機能の選定（BATON PASS）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4023360"/>
            <a:ext cx="285292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4023360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B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正式提案・見積もり（KOKU）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5074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本資料はヒアリング議事録（2026/07/03）とKOKU提示の目安、各API公開価格をもとにした概算のたたき台です。金額は実装範囲・利用者数・AI利用量・LINE連携の深さで変動します。会計・法務の専門的助言ではありません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0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2026 KOKU Inc. ／ TAKT proposal for BATON PASS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KOKU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TAKT ご提案</dc:title>
  <dc:subject>PptxGenJS Presentation</dc:subject>
  <dc:creator>KOKU Inc.</dc:creator>
  <cp:lastModifiedBy>KOKU Inc.</cp:lastModifiedBy>
  <cp:revision>1</cp:revision>
  <dcterms:created xsi:type="dcterms:W3CDTF">2026-08-12T05:16:11Z</dcterms:created>
  <dcterms:modified xsi:type="dcterms:W3CDTF">2026-08-12T05:16:11Z</dcterms:modified>
</cp:coreProperties>
</file>