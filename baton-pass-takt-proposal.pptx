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C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1680000">
            <a:off x="8503920" y="777240"/>
            <a:ext cx="3291840" cy="146304"/>
          </a:xfrm>
          <a:prstGeom prst="roundRect">
            <a:avLst>
              <a:gd name="adj" fmla="val 50000"/>
            </a:avLst>
          </a:prstGeom>
          <a:solidFill>
            <a:srgbClr val="D9542F"/>
          </a:solidFill>
          <a:ln/>
        </p:spPr>
      </p:sp>
      <p:sp>
        <p:nvSpPr>
          <p:cNvPr id="3" name="Shape 1"/>
          <p:cNvSpPr/>
          <p:nvPr/>
        </p:nvSpPr>
        <p:spPr>
          <a:xfrm rot="-1680000">
            <a:off x="8732520" y="1417320"/>
            <a:ext cx="2468880" cy="91440"/>
          </a:xfrm>
          <a:prstGeom prst="roundRect">
            <a:avLst>
              <a:gd name="adj" fmla="val 50000"/>
            </a:avLst>
          </a:prstGeom>
          <a:solidFill>
            <a:srgbClr val="D9542F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C8D0E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BATON PASS   ×   KOKU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管理CRM </a:t>
            </a:r>
            <a:pPr indent="0" marL="0">
              <a:buNone/>
            </a:pPr>
            <a:r>
              <a:rPr lang="en-US" sz="5200" b="1" dirty="0">
                <a:solidFill>
                  <a:srgbClr val="F0A5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「TAKT」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880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BE1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選手とスポンサーをつなぐ、管理の土台を。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57200" y="342900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D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LINEとスプレッドシートに散らばった情報を、ひとつのCRMへ。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D1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提案・実績・タスクまで、段階的に。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4434840"/>
            <a:ext cx="1627632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4434840"/>
            <a:ext cx="16276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🗂 情報の一元化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267712" y="4434840"/>
            <a:ext cx="2066544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267712" y="4434840"/>
            <a:ext cx="206654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📱 スマホ・音声タスク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17136" y="4434840"/>
            <a:ext cx="1773936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17136" y="4434840"/>
            <a:ext cx="1773936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🤝 継続する座組み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" y="57607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ご提案資料（企画・機能ガイド・おすすめ度・概算見積もり）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作成：株式会社KOKU　／　ヒアリング：2026年7月3日　／　※金額は概算のたたき台です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本日ご提案する内容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「なぜ作るか」から始め、機能はおすすめ度で、費用は概算レンジでお伝えします。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1945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00200" y="222199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企画 ─ 何を、なぜ作るか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77240" y="283464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散在する情報を一元化する管理CRM「TAKT」の狙いと、課題→解決の対応。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77356" y="196596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51676" y="219456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420356" y="222199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機能 ─ おすすめ度で見る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597396" y="283464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前回の「欲しい機能」＋追加機能を、★のおすすめ度で整理。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406908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4297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600200" y="432511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進め方 ─ 作る順番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77240" y="493776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土台から段階的に。効果の大きいものから載せていくロードマップ。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277356" y="4069080"/>
            <a:ext cx="5454396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51676" y="4297680"/>
            <a:ext cx="914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420356" y="4325112"/>
            <a:ext cx="40827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 ─ 概算見積もり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597396" y="4937760"/>
            <a:ext cx="481431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A/B/Cの3プランと1年目総額の目安（正式額はKOKUより別途）。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· 企画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土台となるCRMを起点に、段階的に載せる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最優先の土台＝管理CRM。ここに提案書の自動化・実績共有・LINE連携・タスク管理を順に積み上げます。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640080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1488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ねらい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2560320"/>
            <a:ext cx="5760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選手・スポンサー・案件を1つのDBに統合。「誰が・いつ・何をしたか」の履歴が自動で残り、属人化を解消して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引き継ぎ可能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な状態に。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4114800"/>
            <a:ext cx="6400800" cy="1463040"/>
          </a:xfrm>
          <a:prstGeom prst="roundRect">
            <a:avLst>
              <a:gd name="adj" fmla="val 5625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4114800"/>
            <a:ext cx="82296" cy="1463040"/>
          </a:xfrm>
          <a:prstGeom prst="roundRect">
            <a:avLst>
              <a:gd name="adj" fmla="val 44444"/>
            </a:avLst>
          </a:prstGeom>
          <a:solidFill>
            <a:srgbClr val="D9542F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4114800"/>
            <a:ext cx="58978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「移動が多くPCを開けない」代表の最重要課題に対し、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スマホ・音声でタスクを完結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できる形を土台に組み込みます。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0" y="1965960"/>
            <a:ext cx="4416552" cy="1115568"/>
          </a:xfrm>
          <a:prstGeom prst="roundRect">
            <a:avLst>
              <a:gd name="adj" fmla="val 7377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89520" y="2112264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1つのDB</a:t>
            </a:r>
            <a:endParaRPr lang="en-US" sz="2100" dirty="0"/>
          </a:p>
        </p:txBody>
      </p:sp>
      <p:sp>
        <p:nvSpPr>
          <p:cNvPr id="13" name="Text 11"/>
          <p:cNvSpPr/>
          <p:nvPr/>
        </p:nvSpPr>
        <p:spPr>
          <a:xfrm>
            <a:off x="7589520" y="2587752"/>
            <a:ext cx="3867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選手・スポンサー・案件を統合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0" y="3236976"/>
            <a:ext cx="4416552" cy="1115568"/>
          </a:xfrm>
          <a:prstGeom prst="roundRect">
            <a:avLst>
              <a:gd name="adj" fmla="val 7377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589520" y="3383280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スマホ完結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589520" y="3858768"/>
            <a:ext cx="3867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移動中に音声でタスク完了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315200" y="4507992"/>
            <a:ext cx="4416552" cy="1115568"/>
          </a:xfrm>
          <a:prstGeom prst="roundRect">
            <a:avLst>
              <a:gd name="adj" fmla="val 7377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4654296"/>
            <a:ext cx="3867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段階導入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7589520" y="5129784"/>
            <a:ext cx="3867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効果を見ながら次を判断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01 · 企画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 → CRMでの解決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ヒアリング議事録（2026/07/03）で挙がった課題を、機能に翻訳します。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2048256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713232" y="2304288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選手＝LINE、スポンサー＝LINE＋スプレッドシートに情報が散在。履歴が残らず属人化。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349240" y="1920240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6172200" y="192024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2048256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CRMでの解決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28232" y="2304288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選手・スポンサー・案件を1つのDBに統合。履歴が自動で残り、引き継ぎ可能に。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410712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3538728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13232" y="3794760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タスクの漏れが多い。登録しても忘れる。移動が多くPCを開けない（代表の最重要課題）。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349240" y="3410712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172200" y="3410712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28232" y="3538728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CRMでの解決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3794760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案件に紐づくタスクをスマホで完結。移動中に音声で完了、期限が近いものを自動で上位表示。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4901184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3232" y="5029200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現状の痛み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13232" y="5285232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営業商材・案件マッチング・福利厚生案内がバラバラの導線。提案作成にも時間がかかる。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349240" y="4901184"/>
            <a:ext cx="8229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6172200" y="4901184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28232" y="5029200"/>
            <a:ext cx="4434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CRMでの解決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28232" y="5285232"/>
            <a:ext cx="4379976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LINEを窓口にCRMと連携し導線を1本化。企業HPのURLから提案書を自動生成。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· 機能（前回ご提案の「欲しい機能」）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基本機能 ─ おすすめ度で見る土台の8つ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35024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必須（土台）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強く推奨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推奨　　</a:t>
            </a:r>
            <a:pPr indent="0" marL="0">
              <a:buNone/>
            </a:pPr>
            <a:r>
              <a:rPr lang="en-US" sz="1200" i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※金額ではなく「おすすめ度」で表示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00784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2880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28800"/>
            <a:ext cx="29260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60704" y="1792224"/>
            <a:ext cx="4718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統合データベース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2176272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選手・企業・案件を一元管理。全機能の土台。二重入力と属人化を解消。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640580" y="2496312"/>
            <a:ext cx="1120140" cy="292608"/>
          </a:xfrm>
          <a:prstGeom prst="roundRect">
            <a:avLst>
              <a:gd name="adj" fmla="val 50000"/>
            </a:avLst>
          </a:prstGeom>
          <a:solidFill>
            <a:srgbClr val="FBEEE9"/>
          </a:solidFill>
          <a:ln w="9525">
            <a:solidFill>
              <a:srgbClr val="EBC7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40580" y="2496312"/>
            <a:ext cx="11201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必須・土台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245352" y="1700784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28232" y="182880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15" name="Text 13"/>
          <p:cNvSpPr/>
          <p:nvPr/>
        </p:nvSpPr>
        <p:spPr>
          <a:xfrm>
            <a:off x="6428232" y="1828800"/>
            <a:ext cx="29260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848856" y="1792224"/>
            <a:ext cx="4718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営業パイプライン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46520" y="2176272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案件を「発掘→提案→交渉→受注」のカンバンで管理。金額と確度を可視化。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428232" y="250545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10428732" y="2496312"/>
            <a:ext cx="1120140" cy="292608"/>
          </a:xfrm>
          <a:prstGeom prst="roundRect">
            <a:avLst>
              <a:gd name="adj" fmla="val 50000"/>
            </a:avLst>
          </a:prstGeom>
          <a:solidFill>
            <a:srgbClr val="FBEEE9"/>
          </a:solidFill>
          <a:ln w="9525">
            <a:solidFill>
              <a:srgbClr val="EBC7B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8732" y="2496312"/>
            <a:ext cx="11201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必須・土台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2926080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40080" y="305409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3054096"/>
            <a:ext cx="29260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1060704" y="3017520"/>
            <a:ext cx="4718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スマホ・音声タスク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58368" y="3401568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移動中に音声で完了。期限接近を自動で上位表示。代表の最重要課題に直結。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40080" y="37307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4640580" y="3721608"/>
            <a:ext cx="1120140" cy="292608"/>
          </a:xfrm>
          <a:prstGeom prst="roundRect">
            <a:avLst>
              <a:gd name="adj" fmla="val 50000"/>
            </a:avLst>
          </a:prstGeom>
          <a:solidFill>
            <a:srgbClr val="FBEEE9"/>
          </a:solidFill>
          <a:ln w="9525">
            <a:solidFill>
              <a:srgbClr val="EBC7B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40580" y="3721608"/>
            <a:ext cx="11201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必須・土台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245352" y="2926080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28232" y="305409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31" name="Text 29"/>
          <p:cNvSpPr/>
          <p:nvPr/>
        </p:nvSpPr>
        <p:spPr>
          <a:xfrm>
            <a:off x="6428232" y="3054096"/>
            <a:ext cx="29260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6848856" y="3017520"/>
            <a:ext cx="4718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ダッシュボード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446520" y="3401568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売上見込み・案件ステージ・タスク消化をグラフで一目に。数字で意思決定。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28232" y="37307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10936224" y="3721608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936224" y="3721608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57200" y="4151376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427939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" y="4279392"/>
            <a:ext cx="29260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060704" y="4242816"/>
            <a:ext cx="4718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LINE連携＋自動応答bot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658368" y="4626864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24時間AI応答、複雑な相談は有人へ。会話をCRMに自動記録。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40080" y="495604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5148072" y="4946904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148072" y="4946904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245352" y="4151376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428232" y="4279392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47" name="Text 45"/>
          <p:cNvSpPr/>
          <p:nvPr/>
        </p:nvSpPr>
        <p:spPr>
          <a:xfrm>
            <a:off x="6428232" y="4279392"/>
            <a:ext cx="29260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6848856" y="4242816"/>
            <a:ext cx="4718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AI提案書ジェネレーター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6446520" y="4626864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企業HPのURL入力→自社の選手・実績と突き合わせ提案書を自動生成。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6428232" y="495604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10936224" y="4946904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936224" y="4946904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5376672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080" y="550468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5504688"/>
            <a:ext cx="29260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1060704" y="5468112"/>
            <a:ext cx="4718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実績ボード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658368" y="5852160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選手の戦績・進捗をスポンサーが常時閲覧。AIが御礼文を自動生成しLTV向上。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40080" y="618134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5148072" y="6172200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48072" y="6172200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245352" y="5376672"/>
            <a:ext cx="5486400" cy="1133856"/>
          </a:xfrm>
          <a:prstGeom prst="roundRect">
            <a:avLst>
              <a:gd name="adj" fmla="val 6452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428232" y="5504688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63" name="Text 61"/>
          <p:cNvSpPr/>
          <p:nvPr/>
        </p:nvSpPr>
        <p:spPr>
          <a:xfrm>
            <a:off x="6428232" y="5504688"/>
            <a:ext cx="29260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6848856" y="5468112"/>
            <a:ext cx="47183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営業メール支援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6446520" y="5852160"/>
            <a:ext cx="5084064" cy="2834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企業別メールの自動作成・送信。リスト生成は取得ルールを固めて段階導入。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6428232" y="6181344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10936224" y="6172200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0936224" y="6172200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02 · 機能（追加機能）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追加機能 ─ おすすめ度で選ぶプラス9つ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35024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最優先（収益直結）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強く推奨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推奨　　</a:t>
            </a:r>
            <a:pPr indent="0" marL="0">
              <a:buNone/>
            </a:pPr>
            <a:r>
              <a:rPr lang="en-US" sz="1200" b="1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 </a:t>
            </a:r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865376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865376"/>
            <a:ext cx="292608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1060704" y="1828800"/>
            <a:ext cx="2819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契約・請求＋更新アラート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22128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更新前に自動通知。うっかり失注を防ぎLTV向上。請求書も。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0080" y="28254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★★★★★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3080004" y="2816352"/>
            <a:ext cx="781812" cy="292608"/>
          </a:xfrm>
          <a:prstGeom prst="roundRect">
            <a:avLst>
              <a:gd name="adj" fmla="val 50000"/>
            </a:avLst>
          </a:prstGeom>
          <a:solidFill>
            <a:srgbClr val="FBEEE9"/>
          </a:solidFill>
          <a:ln w="9525">
            <a:solidFill>
              <a:srgbClr val="EBC7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0004" y="2816352"/>
            <a:ext cx="7818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300728" y="17373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483608" y="1865376"/>
            <a:ext cx="457200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15" name="Text 13"/>
          <p:cNvSpPr/>
          <p:nvPr/>
        </p:nvSpPr>
        <p:spPr>
          <a:xfrm>
            <a:off x="4483608" y="1865376"/>
            <a:ext cx="45720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068824" y="1828800"/>
            <a:ext cx="2654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SNS影響力の自動集計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01896" y="22128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選手の宣伝価値を数値化。提案の説得力・営業の武器に。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4483608" y="28254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6923532" y="2816352"/>
            <a:ext cx="781812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923532" y="2816352"/>
            <a:ext cx="7818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44256" y="17373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327136" y="1865376"/>
            <a:ext cx="457200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23" name="Text 21"/>
          <p:cNvSpPr/>
          <p:nvPr/>
        </p:nvSpPr>
        <p:spPr>
          <a:xfrm>
            <a:off x="8327136" y="1865376"/>
            <a:ext cx="45720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912352" y="1828800"/>
            <a:ext cx="2654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ROI・露出レポート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8345424" y="22128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費用対効果を自動レポート化。継続（更新）の決め手に。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8327136" y="28254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10767060" y="2816352"/>
            <a:ext cx="781812" cy="292608"/>
          </a:xfrm>
          <a:prstGeom prst="roundRect">
            <a:avLst>
              <a:gd name="adj" fmla="val 50000"/>
            </a:avLst>
          </a:prstGeom>
          <a:solidFill>
            <a:srgbClr val="F7EED6"/>
          </a:solidFill>
          <a:ln w="9525">
            <a:solidFill>
              <a:srgbClr val="E7D9B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767060" y="2816352"/>
            <a:ext cx="7818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9A6E1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33375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0080" y="3465576"/>
            <a:ext cx="457200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3465576"/>
            <a:ext cx="45720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225296" y="3429000"/>
            <a:ext cx="2654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紹介・アライアンス管理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58368" y="38130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紹介と紹介料を自動集計。連鎖紹介を資産化。KOKU送客とも。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40080" y="44256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50" dirty="0"/>
          </a:p>
        </p:txBody>
      </p:sp>
      <p:sp>
        <p:nvSpPr>
          <p:cNvPr id="35" name="Shape 33"/>
          <p:cNvSpPr/>
          <p:nvPr/>
        </p:nvSpPr>
        <p:spPr>
          <a:xfrm>
            <a:off x="3249168" y="44165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49168" y="44165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300728" y="33375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483608" y="3465576"/>
            <a:ext cx="457200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39" name="Text 37"/>
          <p:cNvSpPr/>
          <p:nvPr/>
        </p:nvSpPr>
        <p:spPr>
          <a:xfrm>
            <a:off x="4483608" y="3465576"/>
            <a:ext cx="45720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5068824" y="3429000"/>
            <a:ext cx="2654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少額スポンサー集金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4501896" y="38130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「1口1,000円」をネットで集金。月額の自動支払いにも対応。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4483608" y="44256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50" dirty="0"/>
          </a:p>
        </p:txBody>
      </p:sp>
      <p:sp>
        <p:nvSpPr>
          <p:cNvPr id="43" name="Shape 41"/>
          <p:cNvSpPr/>
          <p:nvPr/>
        </p:nvSpPr>
        <p:spPr>
          <a:xfrm>
            <a:off x="7092696" y="44165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092696" y="44165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8144256" y="33375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27136" y="3465576"/>
            <a:ext cx="457200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47" name="Text 45"/>
          <p:cNvSpPr/>
          <p:nvPr/>
        </p:nvSpPr>
        <p:spPr>
          <a:xfrm>
            <a:off x="8327136" y="3465576"/>
            <a:ext cx="45720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8912352" y="3429000"/>
            <a:ext cx="2654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選手セルフ入力ポータル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8345424" y="38130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選手が自分で戦績・報告を入力。運営の入力負担を軽減。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8327136" y="44256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50" dirty="0"/>
          </a:p>
        </p:txBody>
      </p:sp>
      <p:sp>
        <p:nvSpPr>
          <p:cNvPr id="51" name="Shape 49"/>
          <p:cNvSpPr/>
          <p:nvPr/>
        </p:nvSpPr>
        <p:spPr>
          <a:xfrm>
            <a:off x="10936224" y="44165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0936224" y="44165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457200" y="49377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40080" y="5065776"/>
            <a:ext cx="457200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55" name="Text 53"/>
          <p:cNvSpPr/>
          <p:nvPr/>
        </p:nvSpPr>
        <p:spPr>
          <a:xfrm>
            <a:off x="640080" y="5065776"/>
            <a:ext cx="45720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250" dirty="0"/>
          </a:p>
        </p:txBody>
      </p:sp>
      <p:sp>
        <p:nvSpPr>
          <p:cNvPr id="56" name="Text 54"/>
          <p:cNvSpPr/>
          <p:nvPr/>
        </p:nvSpPr>
        <p:spPr>
          <a:xfrm>
            <a:off x="1225296" y="5029200"/>
            <a:ext cx="2654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メディア事業との連動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658368" y="54132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8月ローンチのメディア掲載を管理し、露出をスポンサー価値へ。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640080" y="60258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endParaRPr lang="en-US" sz="1350" dirty="0"/>
          </a:p>
        </p:txBody>
      </p:sp>
      <p:sp>
        <p:nvSpPr>
          <p:cNvPr id="59" name="Shape 57"/>
          <p:cNvSpPr/>
          <p:nvPr/>
        </p:nvSpPr>
        <p:spPr>
          <a:xfrm>
            <a:off x="3249168" y="60167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249168" y="60167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追加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4300728" y="49377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483608" y="5065776"/>
            <a:ext cx="457200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63" name="Text 61"/>
          <p:cNvSpPr/>
          <p:nvPr/>
        </p:nvSpPr>
        <p:spPr>
          <a:xfrm>
            <a:off x="4483608" y="5065776"/>
            <a:ext cx="45720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14</a:t>
            </a:r>
            <a:endParaRPr lang="en-US" sz="1250" dirty="0"/>
          </a:p>
        </p:txBody>
      </p:sp>
      <p:sp>
        <p:nvSpPr>
          <p:cNvPr id="64" name="Text 62"/>
          <p:cNvSpPr/>
          <p:nvPr/>
        </p:nvSpPr>
        <p:spPr>
          <a:xfrm>
            <a:off x="5068824" y="5029200"/>
            <a:ext cx="2654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福利厚生・特典カタログ配信</a:t>
            </a:r>
            <a:endParaRPr lang="en-US" sz="1300" dirty="0"/>
          </a:p>
        </p:txBody>
      </p:sp>
      <p:sp>
        <p:nvSpPr>
          <p:cNvPr id="65" name="Text 63"/>
          <p:cNvSpPr/>
          <p:nvPr/>
        </p:nvSpPr>
        <p:spPr>
          <a:xfrm>
            <a:off x="4501896" y="54132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スポンサー向け特典を一覧化しLINEで配信。動機を増やす。</a:t>
            </a:r>
            <a:endParaRPr lang="en-US" sz="1050" dirty="0"/>
          </a:p>
        </p:txBody>
      </p:sp>
      <p:sp>
        <p:nvSpPr>
          <p:cNvPr id="66" name="Text 64"/>
          <p:cNvSpPr/>
          <p:nvPr/>
        </p:nvSpPr>
        <p:spPr>
          <a:xfrm>
            <a:off x="4483608" y="60258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endParaRPr lang="en-US" sz="1350" dirty="0"/>
          </a:p>
        </p:txBody>
      </p:sp>
      <p:sp>
        <p:nvSpPr>
          <p:cNvPr id="67" name="Shape 65"/>
          <p:cNvSpPr/>
          <p:nvPr/>
        </p:nvSpPr>
        <p:spPr>
          <a:xfrm>
            <a:off x="7092696" y="60167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092696" y="60167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8144256" y="4937760"/>
            <a:ext cx="3587496" cy="1417320"/>
          </a:xfrm>
          <a:prstGeom prst="roundRect">
            <a:avLst>
              <a:gd name="adj" fmla="val 5161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327136" y="5065776"/>
            <a:ext cx="457200" cy="292608"/>
          </a:xfrm>
          <a:prstGeom prst="roundRect">
            <a:avLst>
              <a:gd name="adj" fmla="val 18750"/>
            </a:avLst>
          </a:prstGeom>
          <a:solidFill>
            <a:srgbClr val="182749"/>
          </a:solidFill>
          <a:ln/>
        </p:spPr>
      </p:sp>
      <p:sp>
        <p:nvSpPr>
          <p:cNvPr id="71" name="Text 69"/>
          <p:cNvSpPr/>
          <p:nvPr/>
        </p:nvSpPr>
        <p:spPr>
          <a:xfrm>
            <a:off x="8327136" y="5065776"/>
            <a:ext cx="457200" cy="2926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250" dirty="0"/>
          </a:p>
        </p:txBody>
      </p:sp>
      <p:sp>
        <p:nvSpPr>
          <p:cNvPr id="72" name="Text 70"/>
          <p:cNvSpPr/>
          <p:nvPr/>
        </p:nvSpPr>
        <p:spPr>
          <a:xfrm>
            <a:off x="8912352" y="5029200"/>
            <a:ext cx="265480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カレンダー連携＋通知</a:t>
            </a:r>
            <a:endParaRPr lang="en-US" sz="1300" dirty="0"/>
          </a:p>
        </p:txBody>
      </p:sp>
      <p:sp>
        <p:nvSpPr>
          <p:cNvPr id="73" name="Text 71"/>
          <p:cNvSpPr/>
          <p:nvPr/>
        </p:nvSpPr>
        <p:spPr>
          <a:xfrm>
            <a:off x="8345424" y="5413248"/>
            <a:ext cx="318516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Googleカレンダー連携で予定も一元化。締切・更新を通知。</a:t>
            </a:r>
            <a:endParaRPr lang="en-US" sz="1050" dirty="0"/>
          </a:p>
        </p:txBody>
      </p:sp>
      <p:sp>
        <p:nvSpPr>
          <p:cNvPr id="74" name="Text 72"/>
          <p:cNvSpPr/>
          <p:nvPr/>
        </p:nvSpPr>
        <p:spPr>
          <a:xfrm>
            <a:off x="8327136" y="6025896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</a:t>
            </a:r>
            <a:pPr indent="0" marL="0">
              <a:buNone/>
            </a:pPr>
            <a:r>
              <a:rPr lang="en-US" sz="1350" dirty="0">
                <a:solidFill>
                  <a:srgbClr val="D8D2C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★★★</a:t>
            </a:r>
            <a:endParaRPr lang="en-US" sz="1350" dirty="0"/>
          </a:p>
        </p:txBody>
      </p:sp>
      <p:sp>
        <p:nvSpPr>
          <p:cNvPr id="75" name="Shape 73"/>
          <p:cNvSpPr/>
          <p:nvPr/>
        </p:nvSpPr>
        <p:spPr>
          <a:xfrm>
            <a:off x="10936224" y="6016752"/>
            <a:ext cx="612648" cy="292608"/>
          </a:xfrm>
          <a:prstGeom prst="roundRect">
            <a:avLst>
              <a:gd name="adj" fmla="val 50000"/>
            </a:avLst>
          </a:prstGeom>
          <a:solidFill>
            <a:srgbClr val="F0EBE0"/>
          </a:solidFill>
          <a:ln w="9525">
            <a:solidFill>
              <a:srgbClr val="E4DFD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936224" y="6016752"/>
            <a:ext cx="612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任意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03 · 進め方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 ─ 作る順番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工数の大きい認証まわりを含む土台を最初に固め、効果の大きいものから順に載せます。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3544824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221992"/>
            <a:ext cx="2996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532888"/>
            <a:ext cx="2996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受託・約1〜1.5ヶ月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31520" y="288036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土台をつくる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統合DB＋パイプライン＋音声タスク＋ダッシュボード。工数の大きい認証まわりを最初に固める。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142232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50〜100万
</a:t>
            </a:r>
            <a:pPr indent="0" marL="0"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初期・概算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44824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6384" y="2221992"/>
            <a:ext cx="2996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96384" y="2532888"/>
            <a:ext cx="2996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受託＋伴走・随時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596384" y="288036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連携＋最優先の追加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596384" y="3291840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LINE＋AI提案書＋実績ボードに、最優先の追加3機能（契約更新・ROI・SNS集計）を。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96384" y="4142232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1機能 10万〜
</a:t>
            </a:r>
            <a:pPr indent="0" marL="0"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随時追加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186928" y="1965960"/>
            <a:ext cx="3544824" cy="2743200"/>
          </a:xfrm>
          <a:prstGeom prst="roundRect">
            <a:avLst>
              <a:gd name="adj" fmla="val 3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61248" y="2221992"/>
            <a:ext cx="2996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PHASE 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461248" y="2532888"/>
            <a:ext cx="299618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随時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461248" y="2880360"/>
            <a:ext cx="299618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拡張する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461248" y="3291840"/>
            <a:ext cx="29961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集金・紹介・選手ポータル・カレンダー・メディア連動。効果の大きいものから順に。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461248" y="4142232"/>
            <a:ext cx="299618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1機能 10万〜
</a:t>
            </a:r>
            <a:pPr indent="0" marL="0">
              <a:buNone/>
            </a:pPr>
            <a:r>
              <a:rPr lang="en-US" sz="10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随時追加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5029200"/>
            <a:ext cx="11274552" cy="1325880"/>
          </a:xfrm>
          <a:prstGeom prst="roundRect">
            <a:avLst>
              <a:gd name="adj" fmla="val 6207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57200" y="5029200"/>
            <a:ext cx="82296" cy="1325880"/>
          </a:xfrm>
          <a:prstGeom prst="roundRect">
            <a:avLst>
              <a:gd name="adj" fmla="val 44444"/>
            </a:avLst>
          </a:prstGeom>
          <a:solidFill>
            <a:srgbClr val="D9542F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5029200"/>
            <a:ext cx="10771632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アライアンス構想：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BATON PASS（企業アポの角度が高い）× KOKU（オリジナルシステム）は相互補完。中小スポンサーへの送客と紹介料の分配、「スポンサー限定サイト（企業マッチング）」へ。単なる受発注で終わらせず、継続的な座組みを目指します。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· 費用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3つのプラン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まず土台だけで始める → 収益に効く所までそろえる → まるごと仕組み化。金額は概算です。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3514344" cy="4297680"/>
          </a:xfrm>
          <a:prstGeom prst="roundRect">
            <a:avLst>
              <a:gd name="adj" fmla="val 2602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2221992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49808" y="2478024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スモールスタート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49808" y="2898648"/>
            <a:ext cx="2965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まず土台だけを最小限で作って始める。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749808" y="3520440"/>
            <a:ext cx="2965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50〜100</a:t>
            </a:r>
            <a:pPr indent="0" marL="0">
              <a:buNone/>
            </a:pPr>
            <a:r>
              <a:rPr lang="en-US" sz="1300" b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749808" y="402336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約5.5万 / 月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9808" y="429768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1年目合計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約120〜165万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49808" y="47548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土台の4機能（①〜④）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49808" y="52120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統合DB・パイプライン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49808" y="56692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音声タスク・ダッシュボード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37304" y="1965960"/>
            <a:ext cx="3514344" cy="4297680"/>
          </a:xfrm>
          <a:prstGeom prst="roundRect">
            <a:avLst>
              <a:gd name="adj" fmla="val 2602"/>
            </a:avLst>
          </a:prstGeom>
          <a:solidFill>
            <a:srgbClr val="FFFFFF"/>
          </a:solidFill>
          <a:ln w="25400">
            <a:solidFill>
              <a:srgbClr val="D9542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34328" y="1819656"/>
            <a:ext cx="1234440" cy="384048"/>
          </a:xfrm>
          <a:prstGeom prst="roundRect">
            <a:avLst>
              <a:gd name="adj" fmla="val 50000"/>
            </a:avLst>
          </a:prstGeom>
          <a:solidFill>
            <a:srgbClr val="D9542F"/>
          </a:solidFill>
          <a:ln/>
        </p:spPr>
      </p:sp>
      <p:sp>
        <p:nvSpPr>
          <p:cNvPr id="17" name="Text 15"/>
          <p:cNvSpPr/>
          <p:nvPr/>
        </p:nvSpPr>
        <p:spPr>
          <a:xfrm>
            <a:off x="6434328" y="1819656"/>
            <a:ext cx="1234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★ おすすめ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29912" y="2221992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B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629912" y="2478024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スタンダード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629912" y="2898648"/>
            <a:ext cx="2965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収益に効く所までひと通り。バランス最良。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629912" y="3520440"/>
            <a:ext cx="2965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200〜280</a:t>
            </a:r>
            <a:pPr indent="0" marL="0">
              <a:buNone/>
            </a:pPr>
            <a:r>
              <a:rPr lang="en-US" sz="1300" b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4629912" y="402336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約10万 / 月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629912" y="429768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1年目合計　</a:t>
            </a:r>
            <a:pPr indent="0" marL="0">
              <a:buNone/>
            </a:pPr>
            <a:r>
              <a:rPr lang="en-US" sz="120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約320〜400万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629912" y="47548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Aの4機能をすべて含む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4629912" y="52120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LINE・AI提案書・実績ボード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4629912" y="56692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最優先の追加3（契約更新・ROI・SNS）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217408" y="1965960"/>
            <a:ext cx="3514344" cy="4297680"/>
          </a:xfrm>
          <a:prstGeom prst="roundRect">
            <a:avLst>
              <a:gd name="adj" fmla="val 2602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0016" y="2221992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PLAN C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510016" y="2478024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フル装備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8510016" y="2898648"/>
            <a:ext cx="2965704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17機能すべて。集金・紹介・選手参加まで。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510016" y="3520440"/>
            <a:ext cx="296570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300〜430</a:t>
            </a:r>
            <a:pPr indent="0" marL="0">
              <a:buNone/>
            </a:pPr>
            <a:r>
              <a:rPr lang="en-US" sz="1300" b="1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万</a:t>
            </a:r>
            <a:endParaRPr lang="en-US" sz="2700" dirty="0"/>
          </a:p>
        </p:txBody>
      </p:sp>
      <p:sp>
        <p:nvSpPr>
          <p:cNvPr id="32" name="Text 30"/>
          <p:cNvSpPr/>
          <p:nvPr/>
        </p:nvSpPr>
        <p:spPr>
          <a:xfrm>
            <a:off x="8510016" y="402336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約13万 / 月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510016" y="4297680"/>
            <a:ext cx="29657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1年目合計　</a:t>
            </a:r>
            <a:pPr indent="0" marL="0">
              <a:buNone/>
            </a:pPr>
            <a:r>
              <a:rPr lang="en-US" sz="120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約480〜590万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510016" y="47548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A・Bの11機能をすべて含む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8510016" y="52120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集金・紹介・特典配信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8510016" y="5669280"/>
            <a:ext cx="2965704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✓ </a:t>
            </a:r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選手ポータル・カレンダー・メディア連動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· 費用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1年目の総額（概算）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初期費用＋月額×12の目安。月額はAI利用量・LINE連携の深さ・利用者数で変動します。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4416552"/>
                <a:gridCol w="2587752"/>
                <a:gridCol w="2587752"/>
                <a:gridCol w="1682496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シナリオ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初期費用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月額×12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1年目合計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274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 スモール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50〜100万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約66万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約120〜165万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B スタンダード ★推奨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200〜280万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約120万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B7431F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約320〜400万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EE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 フル装備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300〜430万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約156万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7223B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約480〜590万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DF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160520"/>
            <a:ext cx="5454396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31520" y="434340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月額のおもな内訳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31520" y="4709160"/>
            <a:ext cx="490575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LINE公式（0.5〜1.5万）／ AI従量（1〜3万）／ 音声入力（0〜0.3万）／ SNS取得（0〜1万）／ ホスティング・DB・認証（0〜2万）／ KOKU運用保守（3〜6万）
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合計目安：約7〜13万円 / 月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（決済手数料 別途 取引額×約3.6%）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77356" y="4160520"/>
            <a:ext cx="5454396" cy="1920240"/>
          </a:xfrm>
          <a:prstGeom prst="roundRect">
            <a:avLst>
              <a:gd name="adj" fmla="val 4286"/>
            </a:avLst>
          </a:prstGeom>
          <a:solidFill>
            <a:srgbClr val="FBFAF6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551676" y="4343400"/>
            <a:ext cx="490575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金額を左右する3点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6551676" y="4709160"/>
            <a:ext cx="4905756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LINE⇔CRM連携の範囲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想定利用者数・同時利用数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AI利用の想定ボリューム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正式なお見積もりはKOKUより別途提示いたします。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84048"/>
            <a:ext cx="112745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04 · おすすめの進め方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76656"/>
            <a:ext cx="112745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まず土台。効果を確かめて、収益直結の順に足す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137160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初期投資を抑えつつ、効果を確かめながら次を判断できます。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0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85800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スモールスタート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685800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土台のみ・50〜100万＋月5.5万で走り始める。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948940" y="2148840"/>
            <a:ext cx="411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378708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07308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1 ★★★★★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607308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⑨ 契約更新アラート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3607308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うっかり失注を防ぎ、まず「守り」を固める。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870448" y="2148840"/>
            <a:ext cx="411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300216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28816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2 ★★★★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528816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⑪ ROI・露出レポート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6528816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効果を見せて、継続（更新）の決め手に。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8791956" y="2148840"/>
            <a:ext cx="41148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54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9221724" y="2148840"/>
            <a:ext cx="2510028" cy="2286000"/>
          </a:xfrm>
          <a:prstGeom prst="roundRect">
            <a:avLst>
              <a:gd name="adj" fmla="val 4000"/>
            </a:avLst>
          </a:prstGeom>
          <a:solidFill>
            <a:srgbClr val="F7F5F0"/>
          </a:solidFill>
          <a:ln w="12700">
            <a:solidFill>
              <a:srgbClr val="E4DFD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50324" y="2404872"/>
            <a:ext cx="205282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50" kern="0" dirty="0">
                <a:solidFill>
                  <a:srgbClr val="CF9526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STEP 3 ★★★★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450324" y="2807208"/>
            <a:ext cx="2052828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b="1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⑩ SNS影響力集計</a:t>
            </a:r>
            <a:endParaRPr lang="en-US" sz="1550" dirty="0"/>
          </a:p>
        </p:txBody>
      </p:sp>
      <p:sp>
        <p:nvSpPr>
          <p:cNvPr id="23" name="Text 21"/>
          <p:cNvSpPr/>
          <p:nvPr/>
        </p:nvSpPr>
        <p:spPr>
          <a:xfrm>
            <a:off x="9450324" y="3566160"/>
            <a:ext cx="2052828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D667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宣伝価値を数値化し、新規営業の武器に。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4937760"/>
            <a:ext cx="11274552" cy="1097280"/>
          </a:xfrm>
          <a:prstGeom prst="roundRect">
            <a:avLst>
              <a:gd name="adj" fmla="val 7500"/>
            </a:avLst>
          </a:prstGeom>
          <a:solidFill>
            <a:srgbClr val="FBEEE9"/>
          </a:solidFill>
          <a:ln w="12700">
            <a:solidFill>
              <a:srgbClr val="EBC7B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4937760"/>
            <a:ext cx="82296" cy="1097280"/>
          </a:xfrm>
          <a:prstGeom prst="roundRect">
            <a:avLst>
              <a:gd name="adj" fmla="val 44444"/>
            </a:avLst>
          </a:prstGeom>
          <a:solidFill>
            <a:srgbClr val="D9542F"/>
          </a:solidFill>
          <a:ln/>
        </p:spPr>
      </p:sp>
      <p:sp>
        <p:nvSpPr>
          <p:cNvPr id="26" name="Text 24"/>
          <p:cNvSpPr/>
          <p:nvPr/>
        </p:nvSpPr>
        <p:spPr>
          <a:xfrm>
            <a:off x="731520" y="4937760"/>
            <a:ext cx="1077163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この3つ（⑨→⑪→⑩）は</a:t>
            </a:r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B7431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収益に直結する「最優先」機能</a:t>
            </a:r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17223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。スモールスタートの上に、この順で載せていくのがおすすめです。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C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-1680000">
            <a:off x="8778240" y="822960"/>
            <a:ext cx="3017520" cy="128016"/>
          </a:xfrm>
          <a:prstGeom prst="roundRect">
            <a:avLst>
              <a:gd name="adj" fmla="val 50000"/>
            </a:avLst>
          </a:prstGeom>
          <a:solidFill>
            <a:srgbClr val="D9542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7373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0A58C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NEXT ACTION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21488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土台から、いっしょに。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DBE1E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最優先で着手する機能をお選びください。正式なお見積もりと実装範囲は、KOKUより別途ご提示します。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023360"/>
            <a:ext cx="3730752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3730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着手する機能の選定（BATON PASS）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416552" y="4023360"/>
            <a:ext cx="2852928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16552" y="4023360"/>
            <a:ext cx="2852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E7EBF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正式提案・見積もり（KOKU）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50749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※ 本資料はヒアリング議事録（2026/07/03）とKOKU提示の目安、各API公開価格をもとにした概算のたたき台です。金額は実装範囲・利用者数・AI利用量・LINE連携の深さで変動します。会計・法務の専門的助言ではありません。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3A0BE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© 2026 KOKU Inc. ／ TAKT proposal for BATON PASS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KOKU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TAKT ご提案</dc:title>
  <dc:subject>PptxGenJS Presentation</dc:subject>
  <dc:creator>KOKU Inc.</dc:creator>
  <cp:lastModifiedBy>KOKU Inc.</cp:lastModifiedBy>
  <cp:revision>1</cp:revision>
  <dcterms:created xsi:type="dcterms:W3CDTF">2026-08-12T03:04:37Z</dcterms:created>
  <dcterms:modified xsi:type="dcterms:W3CDTF">2026-08-12T03:04:37Z</dcterms:modified>
</cp:coreProperties>
</file>